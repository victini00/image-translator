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56" r:id="rId3"/>
    <p:sldId id="259" r:id="rId4"/>
    <p:sldId id="257" r:id="rId5"/>
    <p:sldId id="260" r:id="rId6"/>
    <p:sldId id="262" r:id="rId7"/>
    <p:sldId id="263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B59B89-DE39-9760-C6D1-4863EFF1BC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4CAC81B-094D-3561-3BBC-968DF31689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ED476AA-979D-BE70-864E-2F742BFBEC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21A40-8086-4658-9C79-A1A30D863920}" type="datetimeFigureOut">
              <a:rPr lang="ko-KR" altLang="en-US" smtClean="0"/>
              <a:t>2026-01-11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68FFA2D-28E6-FB8D-F366-39442CC18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1C5FCBA-CE11-0DE4-F75D-8C3F3CD34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C70BE-2D98-40F6-B434-F396072161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68008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134939-C7CF-03C5-EFA8-BF58F0DE8F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3E58432-CF32-CA85-CC17-E1708AE04F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5A2A2E5-6405-7486-6657-BBAE72CE51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21A40-8086-4658-9C79-A1A30D863920}" type="datetimeFigureOut">
              <a:rPr lang="ko-KR" altLang="en-US" smtClean="0"/>
              <a:t>2026-01-11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785E089-902A-7EE8-775C-900E4BAE5B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157E083-4B9C-DE24-E7DD-5EF505602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C70BE-2D98-40F6-B434-F396072161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1020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F4FC46-010D-E5C8-8A27-C9B65D9269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078AB9F-715C-4CCA-E875-E014AE6857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779AB25-4DFC-F309-289C-4CE97B1F8C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21A40-8086-4658-9C79-A1A30D863920}" type="datetimeFigureOut">
              <a:rPr lang="ko-KR" altLang="en-US" smtClean="0"/>
              <a:t>2026-01-11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3155BD5-05D6-4714-F761-6E6C35276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BFD7837-C16F-67D3-FD68-D114C8427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C70BE-2D98-40F6-B434-F396072161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83122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1703E9-0E32-2E2E-982E-4B3D0B8D4D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A1FCAFD-A1FE-FB26-4325-83AB26694D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FE5DDC2-3439-5C9A-B316-E0109FB0A9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F1650B3-37D6-7CC5-4907-DF8036CE1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21A40-8086-4658-9C79-A1A30D863920}" type="datetimeFigureOut">
              <a:rPr lang="ko-KR" altLang="en-US" smtClean="0"/>
              <a:t>2026-01-11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3613507-38E4-A81B-EF34-6914CDABA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B0E2B9E-B8EF-70B3-081F-5BF14C390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C70BE-2D98-40F6-B434-F396072161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91778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EDCCC8-D43C-C373-FD71-D528D201EF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B4DF143-486F-502C-1149-0C6C4D09C2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7E58D21-8E10-D821-05DF-4E6EBB278F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EA96698-A0AD-135A-B912-4B1EEF6550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845A7A1-1D2A-FF74-6B24-C51F16D075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5555F7B-8734-D9AE-F315-D2021317B9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21A40-8086-4658-9C79-A1A30D863920}" type="datetimeFigureOut">
              <a:rPr lang="ko-KR" altLang="en-US" smtClean="0"/>
              <a:t>2026-01-11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55FE623-5504-22F7-AA83-9B43144CB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D268D34-EB92-DBC2-52A2-AD6795FDC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C70BE-2D98-40F6-B434-F396072161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27361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804C79-ECA6-D3A0-27DD-A9DBBCF67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3290495-509E-2317-C6E5-CD06647FDC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21A40-8086-4658-9C79-A1A30D863920}" type="datetimeFigureOut">
              <a:rPr lang="ko-KR" altLang="en-US" smtClean="0"/>
              <a:t>2026-01-11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50F810C-1B40-A769-0A54-43FD23780F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D41711F-0DDB-6D87-8FFB-AF1E4D743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C70BE-2D98-40F6-B434-F396072161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35877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3744705-105F-2D3A-C606-852A81EE3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21A40-8086-4658-9C79-A1A30D863920}" type="datetimeFigureOut">
              <a:rPr lang="ko-KR" altLang="en-US" smtClean="0"/>
              <a:t>2026-01-11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A57520C-5828-5DCC-205E-BDB5053FD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6A57723-4B3D-F241-EBDF-FEB1EAAE5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C70BE-2D98-40F6-B434-F396072161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66562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E40C2C-9216-5464-DE3E-4E7259D85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202D7B1-FB79-3C1E-AB17-CB6A0EF652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B7CF7CB-1131-4478-5A09-BFE876E2D3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8794BBA-0C43-E68B-78C7-25417A0D01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21A40-8086-4658-9C79-A1A30D863920}" type="datetimeFigureOut">
              <a:rPr lang="ko-KR" altLang="en-US" smtClean="0"/>
              <a:t>2026-01-11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325A0AC-C6EB-F855-6288-6E142CC1E0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98F48F9-4D2A-E5F7-928D-AA18465BF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C70BE-2D98-40F6-B434-F396072161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25699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888055-35CD-9C4F-4240-041996927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5F8210E-9B92-5BAC-8702-3640E38E10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1C9C114-1E16-8B61-1CC8-90540ADB58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0AAB00F-02B6-B109-B477-0F845F148F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21A40-8086-4658-9C79-A1A30D863920}" type="datetimeFigureOut">
              <a:rPr lang="ko-KR" altLang="en-US" smtClean="0"/>
              <a:t>2026-01-11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FC9DB80-BDF8-4F26-7E8D-40F6141B20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5DAF42E-48D3-BA2B-8934-C33131CD3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C70BE-2D98-40F6-B434-F396072161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25938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AAFCCD-13C1-0A05-72B0-C44AAB0579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FD3BE89-C6AE-0A55-0723-58C749F769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02B6EF2-F3D9-F6DF-6EEA-4F2462F96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21A40-8086-4658-9C79-A1A30D863920}" type="datetimeFigureOut">
              <a:rPr lang="ko-KR" altLang="en-US" smtClean="0"/>
              <a:t>2026-01-11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8F238EF-A07F-3D92-ED27-8E1E6FF6E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169E838-7C07-6D82-0979-D6C53756F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C70BE-2D98-40F6-B434-F396072161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227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8E13934-407F-E640-18B1-B0CF5545F3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17D3B84-A783-19F5-258A-09357C8776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230A088-62E5-1DAB-E8F0-819AB4934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21A40-8086-4658-9C79-A1A30D863920}" type="datetimeFigureOut">
              <a:rPr lang="ko-KR" altLang="en-US" smtClean="0"/>
              <a:t>2026-01-11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4F7A0E1-F485-8651-0329-D581F4B5FC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56A91ED-6F15-F600-BA4A-455B69D9D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C70BE-2D98-40F6-B434-F396072161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69889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CA28DD4-58C8-E22F-A480-8AD5F7F9C7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A8A9E15-6413-E63D-34EF-7F559A3769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E4D6FF5-986F-DBC2-9765-8B8C097AA7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D21A40-8086-4658-9C79-A1A30D863920}" type="datetimeFigureOut">
              <a:rPr lang="ko-KR" altLang="en-US" smtClean="0"/>
              <a:t>2026-01-11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A4EEDF1-524F-F927-165A-5DE4D3038C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6E851CC-50AE-ED0E-2DBB-DB663497C1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6C70BE-2D98-40F6-B434-F396072161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29614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translatemanga.net/en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2809C5-92D6-9E69-F743-7E7864B707F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Local Image Translation Program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61D1D01-5B29-B3D3-2E65-13EFB13E96B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 err="1"/>
              <a:t>Sinyoung</a:t>
            </a:r>
            <a:r>
              <a:rPr lang="en-US" altLang="ko-KR" dirty="0"/>
              <a:t> Kwon, Seoul National University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84633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8DFBBC6E-99D1-9AD7-2379-5E7C167DB13E}"/>
              </a:ext>
            </a:extLst>
          </p:cNvPr>
          <p:cNvSpPr/>
          <p:nvPr/>
        </p:nvSpPr>
        <p:spPr>
          <a:xfrm>
            <a:off x="2054225" y="643082"/>
            <a:ext cx="1314450" cy="381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IMAGE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EC0B07B-B633-BCCD-2C75-527C6768E202}"/>
              </a:ext>
            </a:extLst>
          </p:cNvPr>
          <p:cNvSpPr/>
          <p:nvPr/>
        </p:nvSpPr>
        <p:spPr>
          <a:xfrm>
            <a:off x="4469822" y="643082"/>
            <a:ext cx="3252355" cy="38100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 err="1">
                <a:solidFill>
                  <a:srgbClr val="FF0000"/>
                </a:solidFill>
              </a:rPr>
              <a:t>EasyOCR</a:t>
            </a:r>
            <a:r>
              <a:rPr lang="en-US" altLang="ko-KR" b="1" dirty="0">
                <a:solidFill>
                  <a:srgbClr val="FF0000"/>
                </a:solidFill>
              </a:rPr>
              <a:t> Framework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851EE5E-6029-6E36-0E58-31A786650956}"/>
              </a:ext>
            </a:extLst>
          </p:cNvPr>
          <p:cNvSpPr/>
          <p:nvPr/>
        </p:nvSpPr>
        <p:spPr>
          <a:xfrm>
            <a:off x="8610022" y="643082"/>
            <a:ext cx="2120901" cy="381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Raw Sentences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5026A61-3D0B-5649-4790-0631C6A101D1}"/>
              </a:ext>
            </a:extLst>
          </p:cNvPr>
          <p:cNvSpPr/>
          <p:nvPr/>
        </p:nvSpPr>
        <p:spPr>
          <a:xfrm>
            <a:off x="916708" y="2487179"/>
            <a:ext cx="4461164" cy="381000"/>
          </a:xfrm>
          <a:prstGeom prst="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ln w="0"/>
                <a:solidFill>
                  <a:srgbClr val="00B0F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Domain-specific Translation Model</a:t>
            </a:r>
            <a:endParaRPr lang="ko-KR" altLang="en-US" b="1" dirty="0">
              <a:ln w="0"/>
              <a:solidFill>
                <a:srgbClr val="00B0F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1AB45B8-EFFC-5692-8DD8-B143828DE6C0}"/>
              </a:ext>
            </a:extLst>
          </p:cNvPr>
          <p:cNvSpPr/>
          <p:nvPr/>
        </p:nvSpPr>
        <p:spPr>
          <a:xfrm>
            <a:off x="6499512" y="2490064"/>
            <a:ext cx="4461164" cy="381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Translated Sentence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9EBCECA-8447-AE6D-7702-1E375643A5CF}"/>
              </a:ext>
            </a:extLst>
          </p:cNvPr>
          <p:cNvSpPr/>
          <p:nvPr/>
        </p:nvSpPr>
        <p:spPr>
          <a:xfrm>
            <a:off x="1203035" y="4592782"/>
            <a:ext cx="4461164" cy="381000"/>
          </a:xfrm>
          <a:prstGeom prst="rect">
            <a:avLst/>
          </a:prstGeom>
          <a:solidFill>
            <a:schemeClr val="bg1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rgbClr val="00B050"/>
                </a:solidFill>
              </a:rPr>
              <a:t>Sentence-placing program</a:t>
            </a:r>
            <a:endParaRPr lang="ko-KR" altLang="en-US" b="1" dirty="0">
              <a:solidFill>
                <a:srgbClr val="00B050"/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AFD05C8-299F-E33D-D40F-05A26D3E9141}"/>
              </a:ext>
            </a:extLst>
          </p:cNvPr>
          <p:cNvSpPr/>
          <p:nvPr/>
        </p:nvSpPr>
        <p:spPr>
          <a:xfrm>
            <a:off x="6758710" y="4592782"/>
            <a:ext cx="4461164" cy="381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Resulting IMAGE</a:t>
            </a:r>
            <a:endParaRPr lang="ko-KR" altLang="en-US" dirty="0">
              <a:solidFill>
                <a:schemeClr val="tx1"/>
              </a:solidFill>
            </a:endParaRPr>
          </a:p>
        </p:txBody>
      </p:sp>
      <p:pic>
        <p:nvPicPr>
          <p:cNvPr id="1026" name="Picture 2" descr="480개의 일본만화 아이디어 | 일본만화, 애니메이션, 그림">
            <a:extLst>
              <a:ext uri="{FF2B5EF4-FFF2-40B4-BE49-F238E27FC236}">
                <a16:creationId xmlns:a16="http://schemas.microsoft.com/office/drawing/2014/main" id="{3B77084D-838F-1BF2-39FC-F77E77D30A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6968" y="1108521"/>
            <a:ext cx="728964" cy="12942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211E0FEB-6EA9-F6DD-FEF6-202911D519DE}"/>
              </a:ext>
            </a:extLst>
          </p:cNvPr>
          <p:cNvCxnSpPr>
            <a:stCxn id="7" idx="3"/>
            <a:endCxn id="8" idx="1"/>
          </p:cNvCxnSpPr>
          <p:nvPr/>
        </p:nvCxnSpPr>
        <p:spPr>
          <a:xfrm>
            <a:off x="3368675" y="833582"/>
            <a:ext cx="110114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028" name="Picture 4" descr="plan">
            <a:extLst>
              <a:ext uri="{FF2B5EF4-FFF2-40B4-BE49-F238E27FC236}">
                <a16:creationId xmlns:a16="http://schemas.microsoft.com/office/drawing/2014/main" id="{C831AB72-6D43-A6E0-64BC-788B050492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5040" y="1082732"/>
            <a:ext cx="3801918" cy="1140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AB0BEF25-C483-2942-C50E-4CD8F8540414}"/>
              </a:ext>
            </a:extLst>
          </p:cNvPr>
          <p:cNvCxnSpPr>
            <a:stCxn id="8" idx="3"/>
            <a:endCxn id="9" idx="1"/>
          </p:cNvCxnSpPr>
          <p:nvPr/>
        </p:nvCxnSpPr>
        <p:spPr>
          <a:xfrm>
            <a:off x="7722177" y="833582"/>
            <a:ext cx="88784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4FAF7007-D213-5FA1-EE80-C7EFE0B3D400}"/>
              </a:ext>
            </a:extLst>
          </p:cNvPr>
          <p:cNvSpPr txBox="1"/>
          <p:nvPr/>
        </p:nvSpPr>
        <p:spPr>
          <a:xfrm>
            <a:off x="8295407" y="1214582"/>
            <a:ext cx="27501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やはり今日も俺の感情を</a:t>
            </a:r>
            <a:r>
              <a:rPr lang="en-US" altLang="ja-JP" dirty="0"/>
              <a:t>..</a:t>
            </a:r>
            <a:endParaRPr lang="ko-KR" alt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62E43B6-653D-AC4D-96E8-BFF4B86BAC5E}"/>
              </a:ext>
            </a:extLst>
          </p:cNvPr>
          <p:cNvSpPr txBox="1"/>
          <p:nvPr/>
        </p:nvSpPr>
        <p:spPr>
          <a:xfrm>
            <a:off x="8915401" y="1653019"/>
            <a:ext cx="27501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二度と俺に</a:t>
            </a:r>
            <a:r>
              <a:rPr lang="en-US" altLang="ja-JP" dirty="0"/>
              <a:t>…</a:t>
            </a:r>
            <a:endParaRPr lang="ko-KR" altLang="en-US" dirty="0"/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5FEE5A57-93DB-5266-8146-D7B6A5CF7DD9}"/>
              </a:ext>
            </a:extLst>
          </p:cNvPr>
          <p:cNvCxnSpPr>
            <a:stCxn id="10" idx="3"/>
            <a:endCxn id="11" idx="1"/>
          </p:cNvCxnSpPr>
          <p:nvPr/>
        </p:nvCxnSpPr>
        <p:spPr>
          <a:xfrm>
            <a:off x="5377872" y="2677679"/>
            <a:ext cx="1121640" cy="28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5" name="그림 24" descr="만화, 망가, 만화 영화, 일러스트레이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973EFDF-384D-C35C-3304-BF7AC669FBB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0022" y="5204981"/>
            <a:ext cx="826649" cy="1546067"/>
          </a:xfrm>
          <a:prstGeom prst="rect">
            <a:avLst/>
          </a:prstGeom>
        </p:spPr>
      </p:pic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DDDC5B0B-9681-A505-6D97-545789E9191D}"/>
              </a:ext>
            </a:extLst>
          </p:cNvPr>
          <p:cNvCxnSpPr>
            <a:stCxn id="12" idx="3"/>
            <a:endCxn id="13" idx="1"/>
          </p:cNvCxnSpPr>
          <p:nvPr/>
        </p:nvCxnSpPr>
        <p:spPr>
          <a:xfrm>
            <a:off x="5664199" y="4783282"/>
            <a:ext cx="109451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FCE5BC3E-B558-810F-D06A-19BE0EB90F3E}"/>
              </a:ext>
            </a:extLst>
          </p:cNvPr>
          <p:cNvSpPr txBox="1"/>
          <p:nvPr/>
        </p:nvSpPr>
        <p:spPr>
          <a:xfrm>
            <a:off x="7465865" y="3137821"/>
            <a:ext cx="27501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역시 오늘도 내 감정을</a:t>
            </a:r>
            <a:r>
              <a:rPr lang="en-US" altLang="ko-KR" dirty="0"/>
              <a:t>..</a:t>
            </a:r>
            <a:endParaRPr lang="ko-KR" alt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A33C4FA-BAA2-9661-60A4-C5E887999876}"/>
              </a:ext>
            </a:extLst>
          </p:cNvPr>
          <p:cNvSpPr txBox="1"/>
          <p:nvPr/>
        </p:nvSpPr>
        <p:spPr>
          <a:xfrm>
            <a:off x="7783939" y="3575459"/>
            <a:ext cx="27501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두 번 다시 내게</a:t>
            </a:r>
            <a:r>
              <a:rPr lang="en-US" altLang="ko-KR" dirty="0"/>
              <a:t>..</a:t>
            </a:r>
            <a:endParaRPr lang="ko-KR" altLang="en-US" dirty="0"/>
          </a:p>
        </p:txBody>
      </p:sp>
      <p:pic>
        <p:nvPicPr>
          <p:cNvPr id="31" name="그림 30" descr="텍스트, 도표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704036F-7829-BEDE-2AC5-C9F11F0D8F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7402" y="3020223"/>
            <a:ext cx="3933487" cy="1420514"/>
          </a:xfrm>
          <a:prstGeom prst="rect">
            <a:avLst/>
          </a:prstGeom>
        </p:spPr>
      </p:pic>
      <p:sp>
        <p:nvSpPr>
          <p:cNvPr id="33" name="직사각형 32">
            <a:extLst>
              <a:ext uri="{FF2B5EF4-FFF2-40B4-BE49-F238E27FC236}">
                <a16:creationId xmlns:a16="http://schemas.microsoft.com/office/drawing/2014/main" id="{115B237B-C2B2-9723-54A7-BED9A98E0646}"/>
              </a:ext>
            </a:extLst>
          </p:cNvPr>
          <p:cNvSpPr/>
          <p:nvPr/>
        </p:nvSpPr>
        <p:spPr>
          <a:xfrm>
            <a:off x="1692451" y="5231312"/>
            <a:ext cx="1309033" cy="149340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역시 오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늘도</a:t>
            </a:r>
            <a:r>
              <a:rPr lang="ko-KR" altLang="en-US" dirty="0">
                <a:solidFill>
                  <a:schemeClr val="tx1"/>
                </a:solidFill>
              </a:rPr>
              <a:t> 내 감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정을</a:t>
            </a:r>
            <a:r>
              <a:rPr lang="en-US" altLang="ko-KR" dirty="0">
                <a:solidFill>
                  <a:schemeClr val="tx1"/>
                </a:solidFill>
              </a:rPr>
              <a:t>..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AAE2B6A1-A6EA-A235-99C9-903F6FA3DBB4}"/>
              </a:ext>
            </a:extLst>
          </p:cNvPr>
          <p:cNvSpPr/>
          <p:nvPr/>
        </p:nvSpPr>
        <p:spPr>
          <a:xfrm>
            <a:off x="3747542" y="5231312"/>
            <a:ext cx="1309033" cy="149340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역시 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오늘도 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내 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감정을</a:t>
            </a:r>
            <a:r>
              <a:rPr lang="en-US" altLang="ko-KR" dirty="0">
                <a:solidFill>
                  <a:schemeClr val="tx1"/>
                </a:solidFill>
              </a:rPr>
              <a:t>..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DA7DF757-42D5-3E99-61CE-176ED651D5FF}"/>
              </a:ext>
            </a:extLst>
          </p:cNvPr>
          <p:cNvCxnSpPr>
            <a:stCxn id="33" idx="3"/>
            <a:endCxn id="34" idx="1"/>
          </p:cNvCxnSpPr>
          <p:nvPr/>
        </p:nvCxnSpPr>
        <p:spPr>
          <a:xfrm>
            <a:off x="3001484" y="5978014"/>
            <a:ext cx="74605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9222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66B81C-9114-AF35-E081-4CBFCB9EB1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58D464-B642-89BF-2F2C-53F8B584B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200" y="300470"/>
            <a:ext cx="10515600" cy="1325563"/>
          </a:xfrm>
        </p:spPr>
        <p:txBody>
          <a:bodyPr/>
          <a:lstStyle/>
          <a:p>
            <a:r>
              <a:rPr lang="en-US" altLang="ko-KR" b="1" dirty="0" err="1">
                <a:solidFill>
                  <a:srgbClr val="FF0000"/>
                </a:solidFill>
              </a:rPr>
              <a:t>EasyOCR</a:t>
            </a:r>
            <a:r>
              <a:rPr lang="en-US" altLang="ko-KR" b="1" dirty="0">
                <a:solidFill>
                  <a:srgbClr val="FF0000"/>
                </a:solidFill>
              </a:rPr>
              <a:t> Framework</a:t>
            </a:r>
            <a:br>
              <a:rPr lang="en-US" altLang="ko-KR" b="1" dirty="0">
                <a:solidFill>
                  <a:srgbClr val="FF0000"/>
                </a:solidFill>
              </a:rPr>
            </a:br>
            <a:endParaRPr lang="ko-KR" altLang="en-US" b="1" dirty="0">
              <a:solidFill>
                <a:srgbClr val="FF0000"/>
              </a:solidFill>
            </a:endParaRPr>
          </a:p>
        </p:txBody>
      </p:sp>
      <p:pic>
        <p:nvPicPr>
          <p:cNvPr id="3" name="Picture 4" descr="plan">
            <a:extLst>
              <a:ext uri="{FF2B5EF4-FFF2-40B4-BE49-F238E27FC236}">
                <a16:creationId xmlns:a16="http://schemas.microsoft.com/office/drawing/2014/main" id="{70CF616F-B8DC-C7C9-EC5A-9DC3B88105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695" y="1305849"/>
            <a:ext cx="10265647" cy="30796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C611726-1DC2-5EC5-FA03-90BA19F85214}"/>
              </a:ext>
            </a:extLst>
          </p:cNvPr>
          <p:cNvSpPr txBox="1"/>
          <p:nvPr/>
        </p:nvSpPr>
        <p:spPr>
          <a:xfrm>
            <a:off x="8035637" y="6354557"/>
            <a:ext cx="44519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>
                    <a:lumMod val="75000"/>
                  </a:schemeClr>
                </a:solidFill>
              </a:rPr>
              <a:t>https://github.com/JaidedAI/EasyOCR</a:t>
            </a:r>
            <a:endParaRPr lang="ko-KR" altLang="en-US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27630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E6B982-9CD0-868D-75F1-9F5B799811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200" y="300470"/>
            <a:ext cx="10515600" cy="1325563"/>
          </a:xfrm>
        </p:spPr>
        <p:txBody>
          <a:bodyPr/>
          <a:lstStyle/>
          <a:p>
            <a:r>
              <a:rPr lang="en-US" altLang="ko-KR" b="1" dirty="0">
                <a:ln w="0"/>
                <a:solidFill>
                  <a:srgbClr val="00B0F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Domain-specific Translation Model</a:t>
            </a:r>
            <a:br>
              <a:rPr lang="ko-KR" altLang="en-US" b="1" dirty="0">
                <a:ln w="0"/>
                <a:solidFill>
                  <a:srgbClr val="00B0F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</a:b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1D340E-A6BB-652B-557E-30BD64C78CF4}"/>
              </a:ext>
            </a:extLst>
          </p:cNvPr>
          <p:cNvSpPr txBox="1"/>
          <p:nvPr/>
        </p:nvSpPr>
        <p:spPr>
          <a:xfrm>
            <a:off x="884958" y="1626033"/>
            <a:ext cx="9224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Raw s1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954371-FB08-A51E-CFC1-6B7F607722E9}"/>
              </a:ext>
            </a:extLst>
          </p:cNvPr>
          <p:cNvSpPr txBox="1"/>
          <p:nvPr/>
        </p:nvSpPr>
        <p:spPr>
          <a:xfrm>
            <a:off x="884958" y="2104148"/>
            <a:ext cx="9224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Raw s2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F1B629-39A6-FCAE-D8C7-EF56DCEAF61C}"/>
              </a:ext>
            </a:extLst>
          </p:cNvPr>
          <p:cNvSpPr txBox="1"/>
          <p:nvPr/>
        </p:nvSpPr>
        <p:spPr>
          <a:xfrm>
            <a:off x="884958" y="2582264"/>
            <a:ext cx="9224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Raw s3</a:t>
            </a:r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EAF039F-CAB3-6720-037C-9C92CA3F00C8}"/>
              </a:ext>
            </a:extLst>
          </p:cNvPr>
          <p:cNvSpPr/>
          <p:nvPr/>
        </p:nvSpPr>
        <p:spPr>
          <a:xfrm>
            <a:off x="5529704" y="1914532"/>
            <a:ext cx="2198254" cy="77010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Base translation </a:t>
            </a:r>
          </a:p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Model (local)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8F3F5D5A-564F-1999-8469-7F5F4B05F9D3}"/>
              </a:ext>
            </a:extLst>
          </p:cNvPr>
          <p:cNvGrpSpPr/>
          <p:nvPr/>
        </p:nvGrpSpPr>
        <p:grpSpPr>
          <a:xfrm>
            <a:off x="5816024" y="3059205"/>
            <a:ext cx="1625612" cy="965200"/>
            <a:chOff x="5283195" y="2245833"/>
            <a:chExt cx="1625612" cy="965200"/>
          </a:xfrm>
          <a:solidFill>
            <a:srgbClr val="FF0000"/>
          </a:solidFill>
        </p:grpSpPr>
        <p:sp>
          <p:nvSpPr>
            <p:cNvPr id="10" name="사다리꼴 9">
              <a:extLst>
                <a:ext uri="{FF2B5EF4-FFF2-40B4-BE49-F238E27FC236}">
                  <a16:creationId xmlns:a16="http://schemas.microsoft.com/office/drawing/2014/main" id="{D8EAE3F1-90EB-19E0-C2A9-3C0E2052A4A9}"/>
                </a:ext>
              </a:extLst>
            </p:cNvPr>
            <p:cNvSpPr/>
            <p:nvPr/>
          </p:nvSpPr>
          <p:spPr>
            <a:xfrm rot="16200000">
              <a:off x="6089079" y="2391305"/>
              <a:ext cx="965199" cy="674256"/>
            </a:xfrm>
            <a:prstGeom prst="trapezoid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사다리꼴 10">
              <a:extLst>
                <a:ext uri="{FF2B5EF4-FFF2-40B4-BE49-F238E27FC236}">
                  <a16:creationId xmlns:a16="http://schemas.microsoft.com/office/drawing/2014/main" id="{F4CFA289-7DA4-8FAA-5455-C34154DAA63E}"/>
                </a:ext>
              </a:extLst>
            </p:cNvPr>
            <p:cNvSpPr/>
            <p:nvPr/>
          </p:nvSpPr>
          <p:spPr>
            <a:xfrm rot="5400000">
              <a:off x="5137723" y="2391306"/>
              <a:ext cx="965199" cy="674256"/>
            </a:xfrm>
            <a:prstGeom prst="trapezoid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8A7CDC4E-C33F-2D34-3005-1C0ED55A47A2}"/>
              </a:ext>
            </a:extLst>
          </p:cNvPr>
          <p:cNvSpPr/>
          <p:nvPr/>
        </p:nvSpPr>
        <p:spPr>
          <a:xfrm>
            <a:off x="2172279" y="3269541"/>
            <a:ext cx="2470728" cy="77010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solidFill>
                  <a:schemeClr val="tx1"/>
                </a:solidFill>
              </a:rPr>
              <a:t>Domain-classification model</a:t>
            </a:r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DE567F44-C761-25AA-44F5-DF8A9DB22435}"/>
              </a:ext>
            </a:extLst>
          </p:cNvPr>
          <p:cNvSpPr/>
          <p:nvPr/>
        </p:nvSpPr>
        <p:spPr>
          <a:xfrm>
            <a:off x="669636" y="1455405"/>
            <a:ext cx="1353128" cy="167788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9" name="연결선: 꺾임 18">
            <a:extLst>
              <a:ext uri="{FF2B5EF4-FFF2-40B4-BE49-F238E27FC236}">
                <a16:creationId xmlns:a16="http://schemas.microsoft.com/office/drawing/2014/main" id="{D2B6AA79-590F-84AB-2CA1-935E50D5B1C0}"/>
              </a:ext>
            </a:extLst>
          </p:cNvPr>
          <p:cNvCxnSpPr>
            <a:stCxn id="17" idx="4"/>
            <a:endCxn id="16" idx="1"/>
          </p:cNvCxnSpPr>
          <p:nvPr/>
        </p:nvCxnSpPr>
        <p:spPr>
          <a:xfrm rot="16200000" flipH="1">
            <a:off x="1498587" y="2980902"/>
            <a:ext cx="521305" cy="82607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2322C4C8-D2BA-032D-898B-594D6F7B3CDB}"/>
              </a:ext>
            </a:extLst>
          </p:cNvPr>
          <p:cNvGrpSpPr/>
          <p:nvPr/>
        </p:nvGrpSpPr>
        <p:grpSpPr>
          <a:xfrm>
            <a:off x="2172279" y="4185411"/>
            <a:ext cx="623454" cy="607106"/>
            <a:chOff x="5283195" y="2245833"/>
            <a:chExt cx="1625612" cy="965200"/>
          </a:xfrm>
        </p:grpSpPr>
        <p:sp>
          <p:nvSpPr>
            <p:cNvPr id="22" name="사다리꼴 21">
              <a:extLst>
                <a:ext uri="{FF2B5EF4-FFF2-40B4-BE49-F238E27FC236}">
                  <a16:creationId xmlns:a16="http://schemas.microsoft.com/office/drawing/2014/main" id="{6C76DB88-75B6-BC9E-40E8-1ABA43332ADD}"/>
                </a:ext>
              </a:extLst>
            </p:cNvPr>
            <p:cNvSpPr/>
            <p:nvPr/>
          </p:nvSpPr>
          <p:spPr>
            <a:xfrm rot="16200000">
              <a:off x="6089079" y="2391305"/>
              <a:ext cx="965199" cy="674256"/>
            </a:xfrm>
            <a:prstGeom prst="trapezoid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사다리꼴 22">
              <a:extLst>
                <a:ext uri="{FF2B5EF4-FFF2-40B4-BE49-F238E27FC236}">
                  <a16:creationId xmlns:a16="http://schemas.microsoft.com/office/drawing/2014/main" id="{902C94B0-6A08-6325-3CB2-0AA8BFEA6B53}"/>
                </a:ext>
              </a:extLst>
            </p:cNvPr>
            <p:cNvSpPr/>
            <p:nvPr/>
          </p:nvSpPr>
          <p:spPr>
            <a:xfrm rot="5400000">
              <a:off x="5137723" y="2391306"/>
              <a:ext cx="965199" cy="674256"/>
            </a:xfrm>
            <a:prstGeom prst="trapezoid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7A9767D5-F87B-9E78-45E2-C1A20C5D64C3}"/>
              </a:ext>
            </a:extLst>
          </p:cNvPr>
          <p:cNvGrpSpPr/>
          <p:nvPr/>
        </p:nvGrpSpPr>
        <p:grpSpPr>
          <a:xfrm>
            <a:off x="3913333" y="4185411"/>
            <a:ext cx="623454" cy="607106"/>
            <a:chOff x="5283195" y="2245833"/>
            <a:chExt cx="1625612" cy="965200"/>
          </a:xfrm>
          <a:solidFill>
            <a:schemeClr val="accent1"/>
          </a:solidFill>
        </p:grpSpPr>
        <p:sp>
          <p:nvSpPr>
            <p:cNvPr id="28" name="사다리꼴 27">
              <a:extLst>
                <a:ext uri="{FF2B5EF4-FFF2-40B4-BE49-F238E27FC236}">
                  <a16:creationId xmlns:a16="http://schemas.microsoft.com/office/drawing/2014/main" id="{AE087BE5-C87B-F67F-D7DA-F32510612254}"/>
                </a:ext>
              </a:extLst>
            </p:cNvPr>
            <p:cNvSpPr/>
            <p:nvPr/>
          </p:nvSpPr>
          <p:spPr>
            <a:xfrm rot="16200000">
              <a:off x="6089079" y="2391305"/>
              <a:ext cx="965199" cy="674256"/>
            </a:xfrm>
            <a:prstGeom prst="trapezoid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사다리꼴 28">
              <a:extLst>
                <a:ext uri="{FF2B5EF4-FFF2-40B4-BE49-F238E27FC236}">
                  <a16:creationId xmlns:a16="http://schemas.microsoft.com/office/drawing/2014/main" id="{91F48DD2-38FE-F8DB-9200-FD20A530D190}"/>
                </a:ext>
              </a:extLst>
            </p:cNvPr>
            <p:cNvSpPr/>
            <p:nvPr/>
          </p:nvSpPr>
          <p:spPr>
            <a:xfrm rot="5400000">
              <a:off x="5137723" y="2391306"/>
              <a:ext cx="965199" cy="674256"/>
            </a:xfrm>
            <a:prstGeom prst="trapezoid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9C9954D6-A24C-4AE5-B95E-D51A6FE905DA}"/>
              </a:ext>
            </a:extLst>
          </p:cNvPr>
          <p:cNvGrpSpPr/>
          <p:nvPr/>
        </p:nvGrpSpPr>
        <p:grpSpPr>
          <a:xfrm>
            <a:off x="3042805" y="4185411"/>
            <a:ext cx="623454" cy="607106"/>
            <a:chOff x="5283195" y="2245833"/>
            <a:chExt cx="1625612" cy="965200"/>
          </a:xfrm>
          <a:solidFill>
            <a:srgbClr val="FF0000"/>
          </a:solidFill>
        </p:grpSpPr>
        <p:sp>
          <p:nvSpPr>
            <p:cNvPr id="31" name="사다리꼴 30">
              <a:extLst>
                <a:ext uri="{FF2B5EF4-FFF2-40B4-BE49-F238E27FC236}">
                  <a16:creationId xmlns:a16="http://schemas.microsoft.com/office/drawing/2014/main" id="{8EB70340-AC89-A051-C7BD-A2A3B3382EFE}"/>
                </a:ext>
              </a:extLst>
            </p:cNvPr>
            <p:cNvSpPr/>
            <p:nvPr/>
          </p:nvSpPr>
          <p:spPr>
            <a:xfrm rot="16200000">
              <a:off x="6089079" y="2391305"/>
              <a:ext cx="965199" cy="674256"/>
            </a:xfrm>
            <a:prstGeom prst="trapezoid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사다리꼴 31">
              <a:extLst>
                <a:ext uri="{FF2B5EF4-FFF2-40B4-BE49-F238E27FC236}">
                  <a16:creationId xmlns:a16="http://schemas.microsoft.com/office/drawing/2014/main" id="{192F5F6B-BE6B-6FC0-155F-AEBE4998424B}"/>
                </a:ext>
              </a:extLst>
            </p:cNvPr>
            <p:cNvSpPr/>
            <p:nvPr/>
          </p:nvSpPr>
          <p:spPr>
            <a:xfrm rot="5400000">
              <a:off x="5137723" y="2391306"/>
              <a:ext cx="965199" cy="674256"/>
            </a:xfrm>
            <a:prstGeom prst="trapezoid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7DCDAA94-B568-BD1D-57A4-184F009C4BC7}"/>
              </a:ext>
            </a:extLst>
          </p:cNvPr>
          <p:cNvSpPr txBox="1"/>
          <p:nvPr/>
        </p:nvSpPr>
        <p:spPr>
          <a:xfrm>
            <a:off x="2124968" y="4792517"/>
            <a:ext cx="7288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 err="1"/>
              <a:t>LoRA</a:t>
            </a:r>
            <a:r>
              <a:rPr lang="en-US" altLang="ko-KR" sz="1200" dirty="0"/>
              <a:t> 1</a:t>
            </a:r>
          </a:p>
          <a:p>
            <a:pPr algn="ctr"/>
            <a:r>
              <a:rPr lang="en-US" altLang="ko-KR" sz="1200" dirty="0"/>
              <a:t>(news)</a:t>
            </a:r>
            <a:endParaRPr lang="ko-KR" altLang="en-US" sz="12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61DA6DA-FE20-0CE5-0876-C78D9884406A}"/>
              </a:ext>
            </a:extLst>
          </p:cNvPr>
          <p:cNvSpPr txBox="1"/>
          <p:nvPr/>
        </p:nvSpPr>
        <p:spPr>
          <a:xfrm>
            <a:off x="3019150" y="4792516"/>
            <a:ext cx="7288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 err="1"/>
              <a:t>LoRA</a:t>
            </a:r>
            <a:r>
              <a:rPr lang="en-US" altLang="ko-KR" sz="1200" dirty="0"/>
              <a:t> 2</a:t>
            </a:r>
          </a:p>
          <a:p>
            <a:pPr algn="ctr"/>
            <a:r>
              <a:rPr lang="en-US" altLang="ko-KR" sz="1200" dirty="0"/>
              <a:t>(comic)</a:t>
            </a:r>
            <a:endParaRPr lang="ko-KR" altLang="en-US" sz="12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8317D1F-0AE1-5CE2-0371-09F42A774156}"/>
              </a:ext>
            </a:extLst>
          </p:cNvPr>
          <p:cNvSpPr txBox="1"/>
          <p:nvPr/>
        </p:nvSpPr>
        <p:spPr>
          <a:xfrm>
            <a:off x="3873585" y="4792516"/>
            <a:ext cx="769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 err="1"/>
              <a:t>LoRA</a:t>
            </a:r>
            <a:r>
              <a:rPr lang="en-US" altLang="ko-KR" sz="1200" dirty="0"/>
              <a:t> 3</a:t>
            </a:r>
          </a:p>
          <a:p>
            <a:pPr algn="ctr"/>
            <a:r>
              <a:rPr lang="en-US" altLang="ko-KR" sz="1200" dirty="0"/>
              <a:t>(medical)</a:t>
            </a:r>
            <a:endParaRPr lang="ko-KR" altLang="en-US" sz="1200" dirty="0"/>
          </a:p>
        </p:txBody>
      </p: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7527BE08-4FCB-1DC1-203B-A709E6FF58F3}"/>
              </a:ext>
            </a:extLst>
          </p:cNvPr>
          <p:cNvCxnSpPr>
            <a:stCxn id="17" idx="6"/>
            <a:endCxn id="7" idx="1"/>
          </p:cNvCxnSpPr>
          <p:nvPr/>
        </p:nvCxnSpPr>
        <p:spPr>
          <a:xfrm>
            <a:off x="2022764" y="2294348"/>
            <a:ext cx="3506940" cy="52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연결선: 꺾임 39">
            <a:extLst>
              <a:ext uri="{FF2B5EF4-FFF2-40B4-BE49-F238E27FC236}">
                <a16:creationId xmlns:a16="http://schemas.microsoft.com/office/drawing/2014/main" id="{25B5FFC9-96C9-45A2-EFB8-ED6A67180B27}"/>
              </a:ext>
            </a:extLst>
          </p:cNvPr>
          <p:cNvCxnSpPr>
            <a:cxnSpLocks/>
            <a:endCxn id="11" idx="2"/>
          </p:cNvCxnSpPr>
          <p:nvPr/>
        </p:nvCxnSpPr>
        <p:spPr>
          <a:xfrm rot="16200000" flipH="1">
            <a:off x="4699458" y="2425241"/>
            <a:ext cx="1244840" cy="988291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98645F05-294B-3300-30F2-4B092A93C163}"/>
              </a:ext>
            </a:extLst>
          </p:cNvPr>
          <p:cNvSpPr txBox="1"/>
          <p:nvPr/>
        </p:nvSpPr>
        <p:spPr>
          <a:xfrm>
            <a:off x="6273671" y="3911906"/>
            <a:ext cx="7288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 err="1"/>
              <a:t>LoRA</a:t>
            </a:r>
            <a:r>
              <a:rPr lang="en-US" altLang="ko-KR" sz="1200" dirty="0"/>
              <a:t> 2</a:t>
            </a:r>
          </a:p>
          <a:p>
            <a:pPr algn="ctr"/>
            <a:r>
              <a:rPr lang="en-US" altLang="ko-KR" sz="1200" dirty="0"/>
              <a:t>(comic)</a:t>
            </a:r>
            <a:endParaRPr lang="ko-KR" altLang="en-US" sz="1200" dirty="0"/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8C7FE1DB-9B4D-D5E3-A3A4-1FD84478C089}"/>
              </a:ext>
            </a:extLst>
          </p:cNvPr>
          <p:cNvCxnSpPr>
            <a:stCxn id="16" idx="3"/>
          </p:cNvCxnSpPr>
          <p:nvPr/>
        </p:nvCxnSpPr>
        <p:spPr>
          <a:xfrm flipV="1">
            <a:off x="4643007" y="3654594"/>
            <a:ext cx="1166371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1B1E40E0-11B5-4584-B083-D86E6DA0F9E1}"/>
              </a:ext>
            </a:extLst>
          </p:cNvPr>
          <p:cNvCxnSpPr>
            <a:stCxn id="7" idx="3"/>
          </p:cNvCxnSpPr>
          <p:nvPr/>
        </p:nvCxnSpPr>
        <p:spPr>
          <a:xfrm flipV="1">
            <a:off x="7727958" y="2288814"/>
            <a:ext cx="2031993" cy="107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" name="연결선: 꺾임 49">
            <a:extLst>
              <a:ext uri="{FF2B5EF4-FFF2-40B4-BE49-F238E27FC236}">
                <a16:creationId xmlns:a16="http://schemas.microsoft.com/office/drawing/2014/main" id="{ABD1B0C0-1F92-0C07-EA42-E4D9555E2390}"/>
              </a:ext>
            </a:extLst>
          </p:cNvPr>
          <p:cNvCxnSpPr>
            <a:cxnSpLocks/>
            <a:stCxn id="10" idx="2"/>
          </p:cNvCxnSpPr>
          <p:nvPr/>
        </p:nvCxnSpPr>
        <p:spPr>
          <a:xfrm flipV="1">
            <a:off x="7441636" y="2288814"/>
            <a:ext cx="1029840" cy="1252991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2" name="타원 51">
            <a:extLst>
              <a:ext uri="{FF2B5EF4-FFF2-40B4-BE49-F238E27FC236}">
                <a16:creationId xmlns:a16="http://schemas.microsoft.com/office/drawing/2014/main" id="{B6DB712D-D7E6-CD98-2EDC-6AC9B4F49BC0}"/>
              </a:ext>
            </a:extLst>
          </p:cNvPr>
          <p:cNvSpPr/>
          <p:nvPr/>
        </p:nvSpPr>
        <p:spPr>
          <a:xfrm>
            <a:off x="9759951" y="1458023"/>
            <a:ext cx="2031992" cy="167788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5A06869-5C86-CBAA-B727-6497DF2574BA}"/>
              </a:ext>
            </a:extLst>
          </p:cNvPr>
          <p:cNvSpPr txBox="1"/>
          <p:nvPr/>
        </p:nvSpPr>
        <p:spPr>
          <a:xfrm>
            <a:off x="10030690" y="1663974"/>
            <a:ext cx="16319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Translated s1</a:t>
            </a:r>
            <a:endParaRPr lang="ko-KR" altLang="en-US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65974F9-DABA-C38F-46C3-7BDFD159B12C}"/>
              </a:ext>
            </a:extLst>
          </p:cNvPr>
          <p:cNvSpPr txBox="1"/>
          <p:nvPr/>
        </p:nvSpPr>
        <p:spPr>
          <a:xfrm>
            <a:off x="10030689" y="2112299"/>
            <a:ext cx="16319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Translated s2</a:t>
            </a:r>
            <a:endParaRPr lang="ko-KR" altLang="en-US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83B5069-A488-69C7-887A-22AB96C37575}"/>
              </a:ext>
            </a:extLst>
          </p:cNvPr>
          <p:cNvSpPr txBox="1"/>
          <p:nvPr/>
        </p:nvSpPr>
        <p:spPr>
          <a:xfrm>
            <a:off x="10030688" y="2545977"/>
            <a:ext cx="16319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Translated s3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992605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43A9AA-F104-F65F-FDD8-F80233390B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Select Base Translation model </a:t>
            </a:r>
            <a:endParaRPr lang="ko-KR" altLang="en-US" b="1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05F1E5C-D88A-C262-72CD-4ED17CF111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Choose a small model that can</a:t>
            </a:r>
            <a:r>
              <a:rPr lang="ko-KR" altLang="en-US" dirty="0"/>
              <a:t> </a:t>
            </a:r>
            <a:r>
              <a:rPr lang="en-US" altLang="ko-KR" dirty="0"/>
              <a:t>be</a:t>
            </a:r>
            <a:r>
              <a:rPr lang="ko-KR" altLang="en-US" dirty="0"/>
              <a:t> </a:t>
            </a:r>
            <a:r>
              <a:rPr lang="en-US" altLang="ko-KR" dirty="0"/>
              <a:t>run locally</a:t>
            </a:r>
          </a:p>
          <a:p>
            <a:r>
              <a:rPr lang="en-US" altLang="ko-KR" dirty="0"/>
              <a:t>(Optional) fine-tuning with large dataset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Ex) OPUS-MT, Helsinki-NLP..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7681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2DB44A-4A6D-1BB0-CE8B-36E0C8165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Train </a:t>
            </a:r>
            <a:r>
              <a:rPr lang="en-US" altLang="ko-KR" b="1" dirty="0" err="1"/>
              <a:t>LoRA</a:t>
            </a:r>
            <a:endParaRPr lang="ko-KR" altLang="en-US" b="1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25F291F-2958-BEF5-F524-B54B6F35D8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14000"/>
              </a:lnSpc>
            </a:pPr>
            <a:r>
              <a:rPr lang="en-US" altLang="ko-KR" dirty="0"/>
              <a:t>LLMs already have great performance; so if we prompt well for the domain, it produces great translation results at a level that does not require human post-processing.</a:t>
            </a:r>
          </a:p>
          <a:p>
            <a:pPr>
              <a:lnSpc>
                <a:spcPct val="114000"/>
              </a:lnSpc>
            </a:pPr>
            <a:r>
              <a:rPr lang="en-US" altLang="ko-KR" dirty="0"/>
              <a:t>Using </a:t>
            </a:r>
            <a:r>
              <a:rPr lang="en-US" altLang="ko-KR" b="1" u="sng" dirty="0"/>
              <a:t>transfer learning</a:t>
            </a:r>
            <a:r>
              <a:rPr lang="en-US" altLang="ko-KR" dirty="0"/>
              <a:t>, train </a:t>
            </a:r>
            <a:r>
              <a:rPr lang="en-US" altLang="ko-KR" dirty="0" err="1"/>
              <a:t>LoRA</a:t>
            </a:r>
            <a:r>
              <a:rPr lang="en-US" altLang="ko-KR" dirty="0"/>
              <a:t> domain-specifically.</a:t>
            </a:r>
          </a:p>
          <a:p>
            <a:pPr>
              <a:lnSpc>
                <a:spcPct val="114000"/>
              </a:lnSpc>
            </a:pPr>
            <a:r>
              <a:rPr lang="en-US" altLang="ko-KR" dirty="0"/>
              <a:t>In actual translation phase, use </a:t>
            </a:r>
            <a:r>
              <a:rPr lang="en-US" altLang="ko-KR" dirty="0">
                <a:solidFill>
                  <a:srgbClr val="00B0F0"/>
                </a:solidFill>
              </a:rPr>
              <a:t>domain-classification model </a:t>
            </a:r>
            <a:r>
              <a:rPr lang="en-US" altLang="ko-KR" dirty="0"/>
              <a:t>to determine which </a:t>
            </a:r>
            <a:r>
              <a:rPr lang="en-US" altLang="ko-KR" dirty="0" err="1"/>
              <a:t>LoRA</a:t>
            </a:r>
            <a:r>
              <a:rPr lang="en-US" altLang="ko-KR" dirty="0"/>
              <a:t> to use.</a:t>
            </a:r>
          </a:p>
          <a:p>
            <a:pPr lvl="1">
              <a:lnSpc>
                <a:spcPct val="114000"/>
              </a:lnSpc>
            </a:pPr>
            <a:r>
              <a:rPr lang="en-US" altLang="ko-KR" dirty="0"/>
              <a:t>I don't think it's going to be that hard.</a:t>
            </a:r>
          </a:p>
          <a:p>
            <a:pPr lvl="1">
              <a:lnSpc>
                <a:spcPct val="114000"/>
              </a:lnSpc>
            </a:pPr>
            <a:r>
              <a:rPr lang="en-US" altLang="ko-KR" dirty="0"/>
              <a:t>Comics,</a:t>
            </a:r>
            <a:r>
              <a:rPr lang="ko-KR" altLang="en-US" dirty="0"/>
              <a:t> </a:t>
            </a:r>
            <a:r>
              <a:rPr lang="en-US" altLang="ko-KR" dirty="0"/>
              <a:t>medical,</a:t>
            </a:r>
            <a:r>
              <a:rPr lang="ko-KR" altLang="en-US" dirty="0"/>
              <a:t> </a:t>
            </a:r>
            <a:r>
              <a:rPr lang="en-US" altLang="ko-KR" dirty="0"/>
              <a:t>…</a:t>
            </a:r>
            <a:r>
              <a:rPr lang="ko-KR" altLang="en-US" dirty="0"/>
              <a:t> </a:t>
            </a:r>
            <a:r>
              <a:rPr lang="en-US" altLang="ko-KR" dirty="0"/>
              <a:t>(default </a:t>
            </a:r>
            <a:r>
              <a:rPr lang="en-US" altLang="ko-KR" dirty="0" err="1"/>
              <a:t>LoRA</a:t>
            </a:r>
            <a:r>
              <a:rPr lang="en-US" altLang="ko-KR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6729017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6F4915-2E83-1F81-52A1-310336DFC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 b="1" dirty="0"/>
              <a:t>Benchmarking Service: translatemanga.net</a:t>
            </a:r>
            <a:endParaRPr lang="ko-KR" altLang="en-US" sz="3600" b="1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3FFA0F2-156C-8E4B-9A00-5259430ADA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935393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30000"/>
              </a:lnSpc>
            </a:pPr>
            <a:r>
              <a:rPr lang="en-US" altLang="ko-KR" u="sng" dirty="0">
                <a:hlinkClick r:id="rId2"/>
              </a:rPr>
              <a:t>https://translatemanga.net/en</a:t>
            </a:r>
            <a:endParaRPr lang="ko-KR" altLang="ko-KR" dirty="0"/>
          </a:p>
          <a:p>
            <a:pPr>
              <a:lnSpc>
                <a:spcPct val="130000"/>
              </a:lnSpc>
            </a:pPr>
            <a:r>
              <a:rPr lang="en-US" altLang="ko-KR" dirty="0"/>
              <a:t>Drawbacks</a:t>
            </a:r>
          </a:p>
          <a:p>
            <a:pPr marL="914400" lvl="1" indent="-457200">
              <a:lnSpc>
                <a:spcPct val="130000"/>
              </a:lnSpc>
              <a:buFont typeface="+mj-lt"/>
              <a:buAutoNum type="arabicPeriod"/>
            </a:pPr>
            <a:r>
              <a:rPr lang="en-US" altLang="ko-KR" dirty="0"/>
              <a:t>The translation is not completely smooth (little improvement seems possible)</a:t>
            </a:r>
          </a:p>
          <a:p>
            <a:pPr marL="914400" lvl="1" indent="-457200">
              <a:lnSpc>
                <a:spcPct val="130000"/>
              </a:lnSpc>
              <a:buFont typeface="+mj-lt"/>
              <a:buAutoNum type="arabicPeriod"/>
            </a:pPr>
            <a:r>
              <a:rPr lang="en-US" altLang="ko-KR" dirty="0"/>
              <a:t>The translation sentence placing, font size, etc. (not neat, requiring human intervention)</a:t>
            </a:r>
          </a:p>
          <a:p>
            <a:pPr marL="914400" lvl="1" indent="-457200">
              <a:lnSpc>
                <a:spcPct val="130000"/>
              </a:lnSpc>
              <a:buFont typeface="+mj-lt"/>
              <a:buAutoNum type="arabicPeriod"/>
            </a:pPr>
            <a:r>
              <a:rPr lang="en-US" altLang="ko-KR" dirty="0"/>
              <a:t>LLM API call base, external service dependent</a:t>
            </a:r>
          </a:p>
          <a:p>
            <a:pPr>
              <a:lnSpc>
                <a:spcPct val="130000"/>
              </a:lnSpc>
            </a:pPr>
            <a:r>
              <a:rPr lang="en-US" altLang="ko-KR" dirty="0"/>
              <a:t>Differences from my project</a:t>
            </a:r>
          </a:p>
          <a:p>
            <a:pPr marL="914400" lvl="1" indent="-457200">
              <a:lnSpc>
                <a:spcPct val="130000"/>
              </a:lnSpc>
              <a:buFont typeface="+mj-lt"/>
              <a:buAutoNum type="arabicPeriod"/>
            </a:pPr>
            <a:r>
              <a:rPr lang="en-US" altLang="ko-KR" dirty="0"/>
              <a:t>(Goal) more natural translation</a:t>
            </a:r>
          </a:p>
          <a:p>
            <a:pPr marL="914400" lvl="1" indent="-457200">
              <a:lnSpc>
                <a:spcPct val="130000"/>
              </a:lnSpc>
              <a:buFont typeface="+mj-lt"/>
              <a:buAutoNum type="arabicPeriod"/>
            </a:pPr>
            <a:r>
              <a:rPr lang="en-US" altLang="ko-KR" dirty="0"/>
              <a:t>Appropriate font selection and placement location considering spacing of translated sentences, </a:t>
            </a:r>
            <a:r>
              <a:rPr lang="en-US" altLang="ko-KR" dirty="0" err="1"/>
              <a:t>etc</a:t>
            </a:r>
            <a:endParaRPr lang="en-US" altLang="ko-KR" dirty="0"/>
          </a:p>
          <a:p>
            <a:pPr marL="914400" lvl="1" indent="-457200">
              <a:lnSpc>
                <a:spcPct val="130000"/>
              </a:lnSpc>
              <a:buFont typeface="+mj-lt"/>
              <a:buAutoNum type="arabicPeriod"/>
            </a:pPr>
            <a:r>
              <a:rPr lang="en-US" altLang="ko-KR" dirty="0"/>
              <a:t>Run on Local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22228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298</Words>
  <Application>Microsoft Office PowerPoint</Application>
  <PresentationFormat>와이드스크린</PresentationFormat>
  <Paragraphs>61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0" baseType="lpstr">
      <vt:lpstr>맑은 고딕</vt:lpstr>
      <vt:lpstr>Arial</vt:lpstr>
      <vt:lpstr>Office 테마</vt:lpstr>
      <vt:lpstr>Local Image Translation Program</vt:lpstr>
      <vt:lpstr>PowerPoint 프레젠테이션</vt:lpstr>
      <vt:lpstr>EasyOCR Framework </vt:lpstr>
      <vt:lpstr>Domain-specific Translation Model </vt:lpstr>
      <vt:lpstr>Select Base Translation model </vt:lpstr>
      <vt:lpstr>Train LoRA</vt:lpstr>
      <vt:lpstr>Benchmarking Service: translatemanga.net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권신영</dc:creator>
  <cp:lastModifiedBy>권신영</cp:lastModifiedBy>
  <cp:revision>23</cp:revision>
  <dcterms:created xsi:type="dcterms:W3CDTF">2026-01-11T06:47:01Z</dcterms:created>
  <dcterms:modified xsi:type="dcterms:W3CDTF">2026-01-11T07:50:39Z</dcterms:modified>
</cp:coreProperties>
</file>